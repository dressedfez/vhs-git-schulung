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301" r:id="rId3"/>
    <p:sldId id="299" r:id="rId4"/>
    <p:sldId id="296" r:id="rId5"/>
    <p:sldId id="297" r:id="rId6"/>
    <p:sldId id="298" r:id="rId7"/>
    <p:sldId id="300" r:id="rId8"/>
    <p:sldId id="30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9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Zimmer" userId="122a259f68519fcf" providerId="LiveId" clId="{B899F469-CA97-6540-8840-7658122E3310}"/>
    <pc:docChg chg="undo custSel addSld delSld modSld">
      <pc:chgData name="Frank Zimmer" userId="122a259f68519fcf" providerId="LiveId" clId="{B899F469-CA97-6540-8840-7658122E3310}" dt="2025-08-08T18:50:16.975" v="142" actId="14100"/>
      <pc:docMkLst>
        <pc:docMk/>
      </pc:docMkLst>
      <pc:sldChg chg="delSp add del setBg delDesignElem">
        <pc:chgData name="Frank Zimmer" userId="122a259f68519fcf" providerId="LiveId" clId="{B899F469-CA97-6540-8840-7658122E3310}" dt="2025-07-30T20:47:07.863" v="92" actId="2696"/>
        <pc:sldMkLst>
          <pc:docMk/>
          <pc:sldMk cId="1478079098" sldId="256"/>
        </pc:sldMkLst>
      </pc:sldChg>
      <pc:sldChg chg="del">
        <pc:chgData name="Frank Zimmer" userId="122a259f68519fcf" providerId="LiveId" clId="{B899F469-CA97-6540-8840-7658122E3310}" dt="2025-07-30T20:26:43.090" v="1" actId="2696"/>
        <pc:sldMkLst>
          <pc:docMk/>
          <pc:sldMk cId="2965458579" sldId="256"/>
        </pc:sldMkLst>
      </pc:sldChg>
      <pc:sldChg chg="addSp delSp modSp add mod setBg">
        <pc:chgData name="Frank Zimmer" userId="122a259f68519fcf" providerId="LiveId" clId="{B899F469-CA97-6540-8840-7658122E3310}" dt="2025-07-30T20:49:28.540" v="137" actId="1076"/>
        <pc:sldMkLst>
          <pc:docMk/>
          <pc:sldMk cId="2350819678" sldId="259"/>
        </pc:sldMkLst>
      </pc:sldChg>
      <pc:sldChg chg="addSp modSp add del">
        <pc:chgData name="Frank Zimmer" userId="122a259f68519fcf" providerId="LiveId" clId="{B899F469-CA97-6540-8840-7658122E3310}" dt="2025-07-30T20:45:47.113" v="77" actId="2696"/>
        <pc:sldMkLst>
          <pc:docMk/>
          <pc:sldMk cId="1885102006" sldId="294"/>
        </pc:sldMkLst>
      </pc:sldChg>
      <pc:sldChg chg="addSp delSp modSp add">
        <pc:chgData name="Frank Zimmer" userId="122a259f68519fcf" providerId="LiveId" clId="{B899F469-CA97-6540-8840-7658122E3310}" dt="2025-08-08T18:49:37.139" v="138" actId="14100"/>
        <pc:sldMkLst>
          <pc:docMk/>
          <pc:sldMk cId="50956882" sldId="296"/>
        </pc:sldMkLst>
        <pc:picChg chg="add mod">
          <ac:chgData name="Frank Zimmer" userId="122a259f68519fcf" providerId="LiveId" clId="{B899F469-CA97-6540-8840-7658122E3310}" dt="2025-08-08T18:49:37.139" v="138" actId="14100"/>
          <ac:picMkLst>
            <pc:docMk/>
            <pc:sldMk cId="50956882" sldId="296"/>
            <ac:picMk id="5" creationId="{B8D18B16-CF42-B022-253A-9EC2D87D169F}"/>
          </ac:picMkLst>
        </pc:picChg>
      </pc:sldChg>
      <pc:sldChg chg="addSp delSp modSp add">
        <pc:chgData name="Frank Zimmer" userId="122a259f68519fcf" providerId="LiveId" clId="{B899F469-CA97-6540-8840-7658122E3310}" dt="2025-07-30T20:46:09.432" v="83" actId="478"/>
        <pc:sldMkLst>
          <pc:docMk/>
          <pc:sldMk cId="3163483651" sldId="297"/>
        </pc:sldMkLst>
      </pc:sldChg>
      <pc:sldChg chg="addSp delSp modSp add">
        <pc:chgData name="Frank Zimmer" userId="122a259f68519fcf" providerId="LiveId" clId="{B899F469-CA97-6540-8840-7658122E3310}" dt="2025-08-08T18:50:08.342" v="141" actId="14100"/>
        <pc:sldMkLst>
          <pc:docMk/>
          <pc:sldMk cId="3621460773" sldId="298"/>
        </pc:sldMkLst>
        <pc:picChg chg="add mod">
          <ac:chgData name="Frank Zimmer" userId="122a259f68519fcf" providerId="LiveId" clId="{B899F469-CA97-6540-8840-7658122E3310}" dt="2025-08-08T18:50:08.342" v="141" actId="14100"/>
          <ac:picMkLst>
            <pc:docMk/>
            <pc:sldMk cId="3621460773" sldId="298"/>
            <ac:picMk id="5" creationId="{3FF7A6FE-0D0B-1D95-9CE9-C1BBD85587A9}"/>
          </ac:picMkLst>
        </pc:picChg>
      </pc:sldChg>
      <pc:sldChg chg="addSp delSp modSp add">
        <pc:chgData name="Frank Zimmer" userId="122a259f68519fcf" providerId="LiveId" clId="{B899F469-CA97-6540-8840-7658122E3310}" dt="2025-08-08T18:50:16.975" v="142" actId="14100"/>
        <pc:sldMkLst>
          <pc:docMk/>
          <pc:sldMk cId="637387149" sldId="299"/>
        </pc:sldMkLst>
        <pc:picChg chg="add mod">
          <ac:chgData name="Frank Zimmer" userId="122a259f68519fcf" providerId="LiveId" clId="{B899F469-CA97-6540-8840-7658122E3310}" dt="2025-08-08T18:50:16.975" v="142" actId="14100"/>
          <ac:picMkLst>
            <pc:docMk/>
            <pc:sldMk cId="637387149" sldId="299"/>
            <ac:picMk id="5" creationId="{EF32FCB0-424D-EF0B-4FB2-A265C07253C6}"/>
          </ac:picMkLst>
        </pc:picChg>
      </pc:sldChg>
      <pc:sldChg chg="addSp delSp modSp add mod">
        <pc:chgData name="Frank Zimmer" userId="122a259f68519fcf" providerId="LiveId" clId="{B899F469-CA97-6540-8840-7658122E3310}" dt="2025-08-08T18:49:57.369" v="140" actId="14100"/>
        <pc:sldMkLst>
          <pc:docMk/>
          <pc:sldMk cId="3662527020" sldId="300"/>
        </pc:sldMkLst>
        <pc:picChg chg="add mod">
          <ac:chgData name="Frank Zimmer" userId="122a259f68519fcf" providerId="LiveId" clId="{B899F469-CA97-6540-8840-7658122E3310}" dt="2025-08-08T18:49:57.369" v="140" actId="14100"/>
          <ac:picMkLst>
            <pc:docMk/>
            <pc:sldMk cId="3662527020" sldId="300"/>
            <ac:picMk id="7" creationId="{BF59A596-DC47-FE26-1BE0-9DABE102CBC1}"/>
          </ac:picMkLst>
        </pc:picChg>
      </pc:sldChg>
      <pc:sldChg chg="addSp modSp add mod">
        <pc:chgData name="Frank Zimmer" userId="122a259f68519fcf" providerId="LiveId" clId="{B899F469-CA97-6540-8840-7658122E3310}" dt="2025-08-08T18:49:45.073" v="139" actId="14100"/>
        <pc:sldMkLst>
          <pc:docMk/>
          <pc:sldMk cId="1465968767" sldId="301"/>
        </pc:sldMkLst>
        <pc:picChg chg="add mod">
          <ac:chgData name="Frank Zimmer" userId="122a259f68519fcf" providerId="LiveId" clId="{B899F469-CA97-6540-8840-7658122E3310}" dt="2025-08-08T18:49:45.073" v="139" actId="14100"/>
          <ac:picMkLst>
            <pc:docMk/>
            <pc:sldMk cId="1465968767" sldId="301"/>
            <ac:picMk id="7" creationId="{6846CD63-21A6-C072-7F65-9716D5E566DB}"/>
          </ac:picMkLst>
        </pc:picChg>
      </pc:sldChg>
      <pc:sldChg chg="addSp delSp modSp add mod">
        <pc:chgData name="Frank Zimmer" userId="122a259f68519fcf" providerId="LiveId" clId="{B899F469-CA97-6540-8840-7658122E3310}" dt="2025-07-30T20:27:43.460" v="41" actId="21"/>
        <pc:sldMkLst>
          <pc:docMk/>
          <pc:sldMk cId="2661248329" sldId="302"/>
        </pc:sldMkLst>
      </pc:sldChg>
    </pc:docChg>
  </pc:docChgLst>
  <pc:docChgLst>
    <pc:chgData name="Frank Zimmer" userId="122a259f68519fcf" providerId="LiveId" clId="{9AF7EE9B-DD6B-5ECE-9A0F-E11256467C50}"/>
    <pc:docChg chg="modSld">
      <pc:chgData name="Frank Zimmer" userId="122a259f68519fcf" providerId="LiveId" clId="{9AF7EE9B-DD6B-5ECE-9A0F-E11256467C50}" dt="2025-09-02T17:28:39.960" v="3" actId="20577"/>
      <pc:docMkLst>
        <pc:docMk/>
      </pc:docMkLst>
      <pc:sldChg chg="modSp mod">
        <pc:chgData name="Frank Zimmer" userId="122a259f68519fcf" providerId="LiveId" clId="{9AF7EE9B-DD6B-5ECE-9A0F-E11256467C50}" dt="2025-09-02T17:28:39.960" v="3" actId="20577"/>
        <pc:sldMkLst>
          <pc:docMk/>
          <pc:sldMk cId="2350819678" sldId="259"/>
        </pc:sldMkLst>
        <pc:spChg chg="mod">
          <ac:chgData name="Frank Zimmer" userId="122a259f68519fcf" providerId="LiveId" clId="{9AF7EE9B-DD6B-5ECE-9A0F-E11256467C50}" dt="2025-09-02T17:28:39.960" v="3" actId="20577"/>
          <ac:spMkLst>
            <pc:docMk/>
            <pc:sldMk cId="2350819678" sldId="259"/>
            <ac:spMk id="13" creationId="{57CCFA83-D6DE-A2CF-21C5-1167AEFF9F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2BF6C-3443-D14E-ACEF-DBDA6FDFBCD5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F66BC-42F7-0844-A06D-A4AD94E44B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687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F66BC-42F7-0844-A06D-A4AD94E44B7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83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B29531-B8ED-F8BA-E0FE-27F5334EF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D8E846B-47B3-05A1-8A3F-876BC8917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0EACD2-B88C-94D3-C778-21FF82E35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923881-A112-EA2A-E8AE-619426F9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7C7D26-15EA-953F-7A64-B92E59D8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042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EBB62D-4D7B-55E0-78EF-28196905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04C6B0-481D-4688-E4A3-9B55EB9D1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5CA005-18F1-6C67-0C79-1C299F26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54E1C6-1930-F86C-41A3-F340F821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C65B2C-ABA9-8DC1-97DC-6FB9D9D6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71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98A279-1DB6-CECE-98C1-14977DC0B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D9F565-424D-1A75-3FE0-0E831CC16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12F9EF-AC53-2E7F-079F-EBFC2756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BA8563-076B-8B33-E923-A49E684C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E7EC16-ECC9-0986-02B6-FBB2CB5A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63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B0A6E0-1907-393B-B078-D0CA387F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7C8471-F8D4-50A4-75AC-5EE48721F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D199FC-0275-D493-89BF-B46BEBBB0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FD7DE0-8B91-DC6C-D2BD-D88101DD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50FED7-FE8D-73CD-DFE5-04FA5261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D27872-7DBA-95E1-175E-8FBEDC77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214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26CF11-51E9-C5CC-FE72-0AF4E11A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06C488-6CB1-9A7D-D376-A73DA8C6E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785C91-0173-3A12-329A-6B17C0D48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9DDF825-FF23-9E38-5E09-17CCA15C2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545287-044A-92E2-F441-3B658908F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C1718C-90A0-7F59-8685-6B2074A3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C1D4809-5857-9F2E-9192-9D3EAE7F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02E836D-69FF-16B6-47E7-6982D66C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6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57042-460C-7C55-E68C-C6B0B422C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64CA36-6F0F-A7BD-3F55-7C4218A7A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4E02BC-497F-643B-E426-3BD659AF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90DAFE-2CFF-C303-EDC0-6FB2E1EC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70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5EFB3E3-63E1-7CE9-6B3A-585E9C1F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9582DB-6300-EE1E-F6BF-C257436C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2A9DB8-769B-A826-360D-E9DD6D42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543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79EB9-B418-781A-6AC2-D0B792C7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830E90-6DA4-A497-A814-465FE94F5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55229B-9BA4-E77D-4767-B2EA7CD66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3E25E6-4FAA-198D-F106-D3A1F5588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EF2E06-9262-2C1A-BF96-9EDE46747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40BA8E-E072-7E93-2D17-BEC9DE4A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1188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DF8F9-D321-659D-D499-581BC864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8DDDA6C-94F1-EA74-1008-C1488AA001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D2F5CF-ABEE-8093-A63F-7A32F5938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D4FCB4-0B6B-7C51-6824-23916673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BAE93D-7E4B-BC26-5695-B11A4CDCD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22554B-1229-8D1A-53FB-49230820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934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F1F8DD-7A95-7580-E90B-B11A1F5D5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40713A-CB64-7CDB-ADD5-9E037A0FA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EAAB59-B071-9E9B-6948-BC4D9280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A9CECD-4B37-5B86-8AAE-4DB28F1C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45852B-D0C1-8907-B3E4-0D33A395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0346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6432122-FB74-2047-05A5-0B43FFE6B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ED2584E-35AB-C87B-A455-079C4D57F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4B8435-91BF-B645-6E41-CC0F94576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4A50EC-E837-725C-D767-FF01884D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8DEBB4-CBA2-63CD-0735-276B4CFD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0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2874F0-8F08-5592-096C-9212BDC48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DCC185-B2D9-04DC-AD07-859B959BE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463FF7-8889-5968-CC71-2448F9E7F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7DC27-3C2D-9A4B-A638-A99B0AD00CE0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9B17A1-5E03-5182-231A-866EE03A5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54B261-622F-600F-D91B-EAF3F2432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CCFF3-8821-C644-948B-954298B95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08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DBF50F6-DD88-4D9F-B7D3-79B989980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6BBDC2-6929-469E-B7C4-A03E77BF9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44E6B5-C9F5-4338-9E33-003B123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2" y="170309"/>
            <a:ext cx="2514948" cy="2174333"/>
            <a:chOff x="-305" y="-4155"/>
            <a:chExt cx="2514948" cy="217433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0B0F8D-9E81-4DE8-95D5-1A26E9390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30BA43A-83E9-4C67-92A6-F247FB37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F3A0CC-EBFE-405D-B0C0-27DE361ED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F2E853E-B55A-4FFD-B90E-6FB4F31BD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E0A291F8-645D-C04D-2600-9B6A35DC6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2213" y="86968"/>
            <a:ext cx="3023059" cy="74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DFEDBF7-8E2C-46B8-9095-AE1D77E2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4" y="4560733"/>
            <a:ext cx="3061445" cy="2297266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0202872-FBB0-4F11-BC49-9FB400B21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EB2F40-D411-4D44-9638-AE0342C7F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07F7D91-A991-4196-AF73-327E04B56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78739A9-E67C-40E5-9468-0A68AEC54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Git - Logo Downloads">
            <a:extLst>
              <a:ext uri="{FF2B5EF4-FFF2-40B4-BE49-F238E27FC236}">
                <a16:creationId xmlns:a16="http://schemas.microsoft.com/office/drawing/2014/main" id="{88333391-CDEF-3B3D-1527-9C26B0BA0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8" y="86968"/>
            <a:ext cx="830503" cy="83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815D85C1-3F33-325D-DAAB-2B42BEF8A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1192" y="2055938"/>
            <a:ext cx="6682674" cy="2016774"/>
          </a:xfrm>
        </p:spPr>
        <p:txBody>
          <a:bodyPr anchor="t">
            <a:noAutofit/>
          </a:bodyPr>
          <a:lstStyle/>
          <a:p>
            <a:r>
              <a:rPr lang="de-DE" sz="4800" dirty="0" err="1">
                <a:solidFill>
                  <a:schemeClr val="tx2"/>
                </a:solidFill>
              </a:rPr>
              <a:t>Git</a:t>
            </a:r>
            <a:r>
              <a:rPr lang="de-DE" sz="4800" dirty="0">
                <a:solidFill>
                  <a:schemeClr val="tx2"/>
                </a:solidFill>
              </a:rPr>
              <a:t> </a:t>
            </a:r>
            <a:br>
              <a:rPr lang="de-DE" sz="4800" dirty="0">
                <a:solidFill>
                  <a:schemeClr val="tx2"/>
                </a:solidFill>
              </a:rPr>
            </a:br>
            <a:r>
              <a:rPr lang="de-DE" sz="4800" dirty="0">
                <a:solidFill>
                  <a:schemeClr val="tx2"/>
                </a:solidFill>
              </a:rPr>
              <a:t>–  </a:t>
            </a:r>
            <a:r>
              <a:rPr lang="de-DE" sz="4800" dirty="0" err="1">
                <a:solidFill>
                  <a:schemeClr val="tx2"/>
                </a:solidFill>
              </a:rPr>
              <a:t>From</a:t>
            </a:r>
            <a:r>
              <a:rPr lang="de-DE" sz="4800" dirty="0">
                <a:solidFill>
                  <a:schemeClr val="tx2"/>
                </a:solidFill>
              </a:rPr>
              <a:t> Zero </a:t>
            </a:r>
            <a:r>
              <a:rPr lang="de-DE" sz="4800" dirty="0" err="1">
                <a:solidFill>
                  <a:schemeClr val="tx2"/>
                </a:solidFill>
              </a:rPr>
              <a:t>To</a:t>
            </a:r>
            <a:r>
              <a:rPr lang="de-DE" sz="4800" dirty="0">
                <a:solidFill>
                  <a:schemeClr val="tx2"/>
                </a:solidFill>
              </a:rPr>
              <a:t> Hero –</a:t>
            </a:r>
            <a:br>
              <a:rPr lang="de-DE" sz="4800" dirty="0">
                <a:solidFill>
                  <a:schemeClr val="tx2"/>
                </a:solidFill>
              </a:rPr>
            </a:br>
            <a:r>
              <a:rPr lang="de-DE" sz="4800" dirty="0">
                <a:solidFill>
                  <a:schemeClr val="tx2"/>
                </a:solidFill>
              </a:rPr>
              <a:t>Workflows</a:t>
            </a:r>
            <a:br>
              <a:rPr lang="de-DE" sz="4800" dirty="0">
                <a:solidFill>
                  <a:schemeClr val="tx2"/>
                </a:solidFill>
              </a:rPr>
            </a:br>
            <a:endParaRPr lang="de-DE" sz="4800" dirty="0">
              <a:solidFill>
                <a:schemeClr val="tx2"/>
              </a:solidFill>
            </a:endParaRP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57CCFA83-D6DE-A2CF-21C5-1167AEFF9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2231" y="4249242"/>
            <a:ext cx="2047231" cy="838831"/>
          </a:xfrm>
        </p:spPr>
        <p:txBody>
          <a:bodyPr anchor="b">
            <a:normAutofit fontScale="62500" lnSpcReduction="20000"/>
          </a:bodyPr>
          <a:lstStyle/>
          <a:p>
            <a:pPr algn="l"/>
            <a:endParaRPr lang="de-DE" sz="2000" dirty="0">
              <a:solidFill>
                <a:schemeClr val="tx2"/>
              </a:solidFill>
            </a:endParaRPr>
          </a:p>
          <a:p>
            <a:r>
              <a:rPr lang="de-DE" sz="2600" dirty="0">
                <a:solidFill>
                  <a:schemeClr val="tx2"/>
                </a:solidFill>
              </a:rPr>
              <a:t>Dr. Frank Zimmer</a:t>
            </a:r>
          </a:p>
          <a:p>
            <a:r>
              <a:rPr lang="de-DE" sz="2600" dirty="0">
                <a:solidFill>
                  <a:schemeClr val="tx2"/>
                </a:solidFill>
              </a:rPr>
              <a:t>Dresden, 27.10.2025</a:t>
            </a:r>
          </a:p>
          <a:p>
            <a:pPr algn="l"/>
            <a:endParaRPr lang="de-DE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81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C4E0F-C973-FA4D-9E22-17B764BE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AA6D26-8F1B-E940-A1AA-4DA2175A8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551" y="1690688"/>
            <a:ext cx="8113249" cy="4925265"/>
          </a:xfrm>
        </p:spPr>
        <p:txBody>
          <a:bodyPr>
            <a:normAutofit/>
          </a:bodyPr>
          <a:lstStyle/>
          <a:p>
            <a:r>
              <a:rPr lang="de-DE" dirty="0"/>
              <a:t>Lokale Benutzung  ✅</a:t>
            </a:r>
          </a:p>
          <a:p>
            <a:endParaRPr lang="de-DE" dirty="0"/>
          </a:p>
          <a:p>
            <a:r>
              <a:rPr lang="de-DE" dirty="0"/>
              <a:t>Zusammenarbeiten – nicht lokale Benutzung ✅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Git</a:t>
            </a:r>
            <a:r>
              <a:rPr lang="de-DE" dirty="0"/>
              <a:t>-Workflows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GitHub und </a:t>
            </a:r>
            <a:r>
              <a:rPr lang="de-DE" dirty="0" err="1"/>
              <a:t>Gitlab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2052" name="Picture 4" descr="Git - Logo Downloads">
            <a:extLst>
              <a:ext uri="{FF2B5EF4-FFF2-40B4-BE49-F238E27FC236}">
                <a16:creationId xmlns:a16="http://schemas.microsoft.com/office/drawing/2014/main" id="{4DB65011-585A-DE40-B4D9-9A559EB97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23" y="1584936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Git Workflows | Programster's Blog">
            <a:extLst>
              <a:ext uri="{FF2B5EF4-FFF2-40B4-BE49-F238E27FC236}">
                <a16:creationId xmlns:a16="http://schemas.microsoft.com/office/drawing/2014/main" id="{24A948AF-E255-8549-A9C2-C1396D2AA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13" y="3429000"/>
            <a:ext cx="2480106" cy="116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0F1924CA-E4B5-7E4F-8BBE-73BFF3655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928" y="4948319"/>
            <a:ext cx="1276552" cy="117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53C8ADC8-AB13-90A1-2B53-946FC9B26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Git - Logo Downloads">
            <a:extLst>
              <a:ext uri="{FF2B5EF4-FFF2-40B4-BE49-F238E27FC236}">
                <a16:creationId xmlns:a16="http://schemas.microsoft.com/office/drawing/2014/main" id="{6846CD63-21A6-C072-7F65-9716D5E56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9" y="86969"/>
            <a:ext cx="779306" cy="77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968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45FD4-1F1C-5C4B-8713-AA5E630F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-Workflows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45F008-2E7A-3947-95CA-93F5D442D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1376" y="1640355"/>
            <a:ext cx="5181600" cy="4351338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Trunk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workflow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Feature-</a:t>
            </a:r>
            <a:r>
              <a:rPr lang="de-DE" dirty="0" err="1"/>
              <a:t>Branch</a:t>
            </a:r>
            <a:r>
              <a:rPr lang="de-DE" dirty="0"/>
              <a:t> Workflow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Git</a:t>
            </a:r>
            <a:r>
              <a:rPr lang="de-DE" dirty="0"/>
              <a:t>-Flow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Github</a:t>
            </a:r>
            <a:r>
              <a:rPr lang="de-DE" dirty="0"/>
              <a:t>-</a:t>
            </a:r>
            <a:r>
              <a:rPr lang="de-DE" dirty="0" err="1"/>
              <a:t>Fork</a:t>
            </a:r>
            <a:r>
              <a:rPr lang="de-DE" dirty="0"/>
              <a:t>-Workflow</a:t>
            </a:r>
          </a:p>
          <a:p>
            <a:endParaRPr lang="de-DE" dirty="0"/>
          </a:p>
        </p:txBody>
      </p:sp>
      <p:pic>
        <p:nvPicPr>
          <p:cNvPr id="1026" name="Picture 2" descr="Trunk-based development | Feature flag use cases | Split">
            <a:extLst>
              <a:ext uri="{FF2B5EF4-FFF2-40B4-BE49-F238E27FC236}">
                <a16:creationId xmlns:a16="http://schemas.microsoft.com/office/drawing/2014/main" id="{5F7A9A7F-36C7-B145-B752-5BE6560E4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857" y="1136871"/>
            <a:ext cx="1425846" cy="128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Git Workflows | Programster's Blog">
            <a:extLst>
              <a:ext uri="{FF2B5EF4-FFF2-40B4-BE49-F238E27FC236}">
                <a16:creationId xmlns:a16="http://schemas.microsoft.com/office/drawing/2014/main" id="{935DE061-092C-0E4D-B6D3-C5951BC34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696" y="2496192"/>
            <a:ext cx="1920167" cy="90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ep-by-step guide to contributing on GitHub">
            <a:extLst>
              <a:ext uri="{FF2B5EF4-FFF2-40B4-BE49-F238E27FC236}">
                <a16:creationId xmlns:a16="http://schemas.microsoft.com/office/drawing/2014/main" id="{5A4E26B1-65D6-1F42-AC23-CE3302E72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529" y="4982355"/>
            <a:ext cx="1704892" cy="100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5 Git Workflows &amp; Branching Strategy to deliver better code">
            <a:extLst>
              <a:ext uri="{FF2B5EF4-FFF2-40B4-BE49-F238E27FC236}">
                <a16:creationId xmlns:a16="http://schemas.microsoft.com/office/drawing/2014/main" id="{ACAEC11E-14D1-034D-A74F-8B51C89AF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695" y="3666384"/>
            <a:ext cx="1920167" cy="100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1E5FE9E2-BB2C-B874-D294-D1631E948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it - Logo Downloads">
            <a:extLst>
              <a:ext uri="{FF2B5EF4-FFF2-40B4-BE49-F238E27FC236}">
                <a16:creationId xmlns:a16="http://schemas.microsoft.com/office/drawing/2014/main" id="{EF32FCB0-424D-EF0B-4FB2-A265C0725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8" y="86968"/>
            <a:ext cx="791337" cy="79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38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45FD4-1F1C-5C4B-8713-AA5E630F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Trunk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workflow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BC1750-2EB6-A447-B1F9-823C9C259A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de-DE" dirty="0"/>
              <a:t>Benutzergruppe: kleine Teams</a:t>
            </a:r>
          </a:p>
          <a:p>
            <a:pPr>
              <a:lnSpc>
                <a:spcPct val="170000"/>
              </a:lnSpc>
            </a:pPr>
            <a:r>
              <a:rPr lang="de-DE" dirty="0"/>
              <a:t>Vertrautheit mit </a:t>
            </a:r>
            <a:r>
              <a:rPr lang="de-DE" dirty="0" err="1"/>
              <a:t>Git</a:t>
            </a:r>
            <a:r>
              <a:rPr lang="de-DE" dirty="0"/>
              <a:t> gering</a:t>
            </a:r>
          </a:p>
          <a:p>
            <a:pPr>
              <a:lnSpc>
                <a:spcPct val="170000"/>
              </a:lnSpc>
            </a:pPr>
            <a:r>
              <a:rPr lang="de-DE" dirty="0"/>
              <a:t>Keine </a:t>
            </a:r>
            <a:r>
              <a:rPr lang="de-DE" dirty="0" err="1"/>
              <a:t>Branches</a:t>
            </a:r>
            <a:r>
              <a:rPr lang="de-DE" dirty="0"/>
              <a:t> – lineare Historie via </a:t>
            </a:r>
            <a:r>
              <a:rPr lang="de-DE" dirty="0" err="1"/>
              <a:t>Rebase</a:t>
            </a:r>
            <a:endParaRPr lang="de-DE" dirty="0"/>
          </a:p>
          <a:p>
            <a:pPr>
              <a:lnSpc>
                <a:spcPct val="170000"/>
              </a:lnSpc>
            </a:pPr>
            <a:r>
              <a:rPr lang="de-DE" dirty="0"/>
              <a:t>Wartung von Releases nicht vorgesehen</a:t>
            </a:r>
          </a:p>
          <a:p>
            <a:pPr>
              <a:lnSpc>
                <a:spcPct val="170000"/>
              </a:lnSpc>
            </a:pPr>
            <a:r>
              <a:rPr lang="de-DE" dirty="0"/>
              <a:t>Keine CI gestützten </a:t>
            </a:r>
            <a:r>
              <a:rPr lang="de-DE" dirty="0" err="1"/>
              <a:t>Qualitätsmechanism</a:t>
            </a:r>
            <a:endParaRPr lang="de-DE" dirty="0"/>
          </a:p>
          <a:p>
            <a:pPr>
              <a:lnSpc>
                <a:spcPct val="170000"/>
              </a:lnSpc>
            </a:pPr>
            <a:r>
              <a:rPr lang="de-DE" dirty="0"/>
              <a:t>Feedback via </a:t>
            </a:r>
            <a:r>
              <a:rPr lang="de-DE" dirty="0" err="1"/>
              <a:t>Build</a:t>
            </a:r>
            <a:r>
              <a:rPr lang="de-DE" dirty="0"/>
              <a:t>-Pipeline und Statische Codeanalyse möglich </a:t>
            </a:r>
          </a:p>
        </p:txBody>
      </p:sp>
      <p:pic>
        <p:nvPicPr>
          <p:cNvPr id="14" name="Picture 2" descr="Trunk-based development | Feature flag use cases | Split">
            <a:extLst>
              <a:ext uri="{FF2B5EF4-FFF2-40B4-BE49-F238E27FC236}">
                <a16:creationId xmlns:a16="http://schemas.microsoft.com/office/drawing/2014/main" id="{6D3F69F9-05CC-CC49-A72A-E2AC85D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870" y="2005807"/>
            <a:ext cx="3574580" cy="321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0223327D-575B-3E85-FD2F-DFF7F446C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it - Logo Downloads">
            <a:extLst>
              <a:ext uri="{FF2B5EF4-FFF2-40B4-BE49-F238E27FC236}">
                <a16:creationId xmlns:a16="http://schemas.microsoft.com/office/drawing/2014/main" id="{B8D18B16-CF42-B022-253A-9EC2D87D1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9" y="86969"/>
            <a:ext cx="779306" cy="77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56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45FD4-1F1C-5C4B-8713-AA5E630F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Feature-</a:t>
            </a:r>
            <a:r>
              <a:rPr lang="de-DE" dirty="0" err="1"/>
              <a:t>Branch</a:t>
            </a:r>
            <a:r>
              <a:rPr lang="de-DE" dirty="0"/>
              <a:t> Workflow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BC1750-2EB6-A447-B1F9-823C9C259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738698"/>
            <a:ext cx="5440082" cy="466725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de-DE" sz="2000" dirty="0"/>
              <a:t>Benutzergruppe: kleine bis mittelgroße Teams</a:t>
            </a:r>
          </a:p>
          <a:p>
            <a:pPr>
              <a:lnSpc>
                <a:spcPct val="100000"/>
              </a:lnSpc>
            </a:pPr>
            <a:r>
              <a:rPr lang="de-DE" sz="2000" dirty="0"/>
              <a:t>grundlegendes Verständnis von </a:t>
            </a:r>
            <a:r>
              <a:rPr lang="de-DE" sz="2000" dirty="0" err="1"/>
              <a:t>git</a:t>
            </a:r>
            <a:endParaRPr lang="de-DE" sz="2000" dirty="0"/>
          </a:p>
          <a:p>
            <a:pPr>
              <a:lnSpc>
                <a:spcPct val="100000"/>
              </a:lnSpc>
            </a:pPr>
            <a:r>
              <a:rPr lang="de-DE" sz="2000" dirty="0"/>
              <a:t>Features werden auf </a:t>
            </a:r>
            <a:r>
              <a:rPr lang="de-DE" sz="2000" dirty="0" err="1"/>
              <a:t>Branches</a:t>
            </a:r>
            <a:r>
              <a:rPr lang="de-DE" sz="2000" dirty="0"/>
              <a:t> entwickelt</a:t>
            </a:r>
          </a:p>
          <a:p>
            <a:pPr>
              <a:lnSpc>
                <a:spcPct val="100000"/>
              </a:lnSpc>
            </a:pPr>
            <a:r>
              <a:rPr lang="de-DE" sz="2000" dirty="0"/>
              <a:t>Hauptentwicklungszweig entspricht Stand in Produktion</a:t>
            </a:r>
          </a:p>
          <a:p>
            <a:pPr>
              <a:lnSpc>
                <a:spcPct val="100000"/>
              </a:lnSpc>
            </a:pPr>
            <a:r>
              <a:rPr lang="de-DE" sz="2000" dirty="0"/>
              <a:t>CI-Qualitätsmechanismen realisiert über </a:t>
            </a:r>
            <a:r>
              <a:rPr lang="de-DE" sz="2000" dirty="0" err="1"/>
              <a:t>Merge</a:t>
            </a:r>
            <a:r>
              <a:rPr lang="de-DE" sz="2000" dirty="0"/>
              <a:t> (Pull)-Request</a:t>
            </a:r>
          </a:p>
          <a:p>
            <a:pPr>
              <a:lnSpc>
                <a:spcPct val="100000"/>
              </a:lnSpc>
            </a:pPr>
            <a:r>
              <a:rPr lang="de-DE" sz="2000" dirty="0"/>
              <a:t>Wartung von Releases nicht vorgesehen</a:t>
            </a:r>
          </a:p>
          <a:p>
            <a:pPr>
              <a:lnSpc>
                <a:spcPct val="100000"/>
              </a:lnSpc>
            </a:pPr>
            <a:r>
              <a:rPr lang="de-DE" sz="2000" dirty="0"/>
              <a:t>Feedback via </a:t>
            </a:r>
            <a:r>
              <a:rPr lang="de-DE" sz="2000" dirty="0" err="1"/>
              <a:t>Build</a:t>
            </a:r>
            <a:r>
              <a:rPr lang="de-DE" sz="2000" dirty="0"/>
              <a:t>-Pipeline und Statische Codeanalyse schon in Branchen möglich</a:t>
            </a:r>
          </a:p>
        </p:txBody>
      </p:sp>
      <p:pic>
        <p:nvPicPr>
          <p:cNvPr id="15" name="Picture 6" descr="Git Workflows | Programster's Blog">
            <a:extLst>
              <a:ext uri="{FF2B5EF4-FFF2-40B4-BE49-F238E27FC236}">
                <a16:creationId xmlns:a16="http://schemas.microsoft.com/office/drawing/2014/main" id="{C242EAF6-B72C-7D46-AD85-EFB54F920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259" y="2784313"/>
            <a:ext cx="3465982" cy="163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5FBF3D99-156A-6EAA-C605-3D229C40D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it - Logo Downloads">
            <a:extLst>
              <a:ext uri="{FF2B5EF4-FFF2-40B4-BE49-F238E27FC236}">
                <a16:creationId xmlns:a16="http://schemas.microsoft.com/office/drawing/2014/main" id="{6C7111F4-6DDE-72FB-102D-7A54D52D6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8" y="86968"/>
            <a:ext cx="830503" cy="83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483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45FD4-1F1C-5C4B-8713-AA5E630F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-Flow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BC1750-2EB6-A447-B1F9-823C9C259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607216"/>
            <a:ext cx="5440082" cy="4667250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Benutzergruppe: mittelgroße Teams</a:t>
            </a:r>
          </a:p>
          <a:p>
            <a:r>
              <a:rPr lang="de-DE" dirty="0"/>
              <a:t>gutes Verständnis von </a:t>
            </a:r>
            <a:r>
              <a:rPr lang="de-DE" dirty="0" err="1"/>
              <a:t>git</a:t>
            </a:r>
            <a:endParaRPr lang="de-DE" dirty="0"/>
          </a:p>
          <a:p>
            <a:r>
              <a:rPr lang="de-DE" dirty="0"/>
              <a:t>Entwicklung analog Feature-</a:t>
            </a:r>
            <a:r>
              <a:rPr lang="de-DE" dirty="0" err="1"/>
              <a:t>Branch</a:t>
            </a:r>
            <a:r>
              <a:rPr lang="de-DE" dirty="0"/>
              <a:t> Workflow</a:t>
            </a:r>
          </a:p>
          <a:p>
            <a:r>
              <a:rPr lang="de-DE" dirty="0"/>
              <a:t>Hauptentwicklungszweig entspricht Stand in Produktion</a:t>
            </a:r>
          </a:p>
          <a:p>
            <a:r>
              <a:rPr lang="de-DE" dirty="0"/>
              <a:t>CI gestützten Qualitätsmechanismen können über </a:t>
            </a:r>
            <a:r>
              <a:rPr lang="de-DE" dirty="0" err="1"/>
              <a:t>Merge</a:t>
            </a:r>
            <a:r>
              <a:rPr lang="de-DE" dirty="0"/>
              <a:t> (Pull)-Request realisiert werden</a:t>
            </a:r>
          </a:p>
          <a:p>
            <a:r>
              <a:rPr lang="de-DE" dirty="0"/>
              <a:t>Wartung aktueller Release durch Hotfixes möglich</a:t>
            </a:r>
          </a:p>
          <a:p>
            <a:r>
              <a:rPr lang="de-DE" dirty="0"/>
              <a:t>Feedback via </a:t>
            </a:r>
            <a:r>
              <a:rPr lang="de-DE" dirty="0" err="1"/>
              <a:t>Build</a:t>
            </a:r>
            <a:r>
              <a:rPr lang="de-DE" dirty="0"/>
              <a:t>-Pipeline und Statische Codeanalyse schon in Feature/Bug/Hotfix-</a:t>
            </a:r>
            <a:r>
              <a:rPr lang="de-DE" dirty="0" err="1"/>
              <a:t>Branch</a:t>
            </a:r>
            <a:r>
              <a:rPr lang="de-DE" dirty="0"/>
              <a:t> möglich</a:t>
            </a:r>
          </a:p>
        </p:txBody>
      </p:sp>
      <p:pic>
        <p:nvPicPr>
          <p:cNvPr id="3074" name="Picture 2" descr="5 Git Workflows &amp; Branching Strategy to deliver better code">
            <a:extLst>
              <a:ext uri="{FF2B5EF4-FFF2-40B4-BE49-F238E27FC236}">
                <a16:creationId xmlns:a16="http://schemas.microsoft.com/office/drawing/2014/main" id="{FF6E0499-10FB-F64B-A231-E0AD00B7C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88" y="2566615"/>
            <a:ext cx="4576818" cy="240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35518903-B68A-F68D-5C08-8C8C654C1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it - Logo Downloads">
            <a:extLst>
              <a:ext uri="{FF2B5EF4-FFF2-40B4-BE49-F238E27FC236}">
                <a16:creationId xmlns:a16="http://schemas.microsoft.com/office/drawing/2014/main" id="{3FF7A6FE-0D0B-1D95-9CE9-C1BBD8558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8" y="86968"/>
            <a:ext cx="791337" cy="79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46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45FD4-1F1C-5C4B-8713-AA5E630F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GitHub-Fork-Workflow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BC1750-2EB6-A447-B1F9-823C9C259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607216"/>
            <a:ext cx="5440082" cy="4667250"/>
          </a:xfrm>
        </p:spPr>
        <p:txBody>
          <a:bodyPr>
            <a:normAutofit fontScale="92500"/>
          </a:bodyPr>
          <a:lstStyle/>
          <a:p>
            <a:r>
              <a:rPr lang="de-DE" dirty="0"/>
              <a:t>Benutzergruppe: unbegrenzte Teamgröße</a:t>
            </a:r>
          </a:p>
          <a:p>
            <a:r>
              <a:rPr lang="de-DE" dirty="0"/>
              <a:t>gutes Verständnis von </a:t>
            </a:r>
            <a:r>
              <a:rPr lang="de-DE" dirty="0" err="1"/>
              <a:t>git</a:t>
            </a:r>
            <a:endParaRPr lang="de-DE" dirty="0"/>
          </a:p>
          <a:p>
            <a:r>
              <a:rPr lang="de-DE" dirty="0"/>
              <a:t>Entwicklung analog </a:t>
            </a:r>
            <a:r>
              <a:rPr lang="de-DE" dirty="0" err="1"/>
              <a:t>Git</a:t>
            </a:r>
            <a:r>
              <a:rPr lang="de-DE" dirty="0"/>
              <a:t>-Flow</a:t>
            </a:r>
          </a:p>
          <a:p>
            <a:r>
              <a:rPr lang="de-DE" dirty="0"/>
              <a:t>Wird vor allen Dingen im </a:t>
            </a:r>
            <a:r>
              <a:rPr lang="de-DE" dirty="0" err="1"/>
              <a:t>Opensource</a:t>
            </a:r>
            <a:r>
              <a:rPr lang="de-DE" dirty="0"/>
              <a:t>-Umfeld eingesetzt</a:t>
            </a:r>
          </a:p>
          <a:p>
            <a:r>
              <a:rPr lang="de-DE" dirty="0"/>
              <a:t>bittet die Möglichkeit Sachen nicht direkt zu veröffentlichen</a:t>
            </a:r>
          </a:p>
          <a:p>
            <a:r>
              <a:rPr lang="de-DE" dirty="0"/>
              <a:t>bitte die Möglichkeit mit Menschen zusammen zu arbeiten, die nicht der eigenen Firma angehören </a:t>
            </a:r>
          </a:p>
        </p:txBody>
      </p:sp>
      <p:pic>
        <p:nvPicPr>
          <p:cNvPr id="5" name="Picture 6" descr="Step-by-step guide to contributing on GitHub">
            <a:extLst>
              <a:ext uri="{FF2B5EF4-FFF2-40B4-BE49-F238E27FC236}">
                <a16:creationId xmlns:a16="http://schemas.microsoft.com/office/drawing/2014/main" id="{20FC4A08-9BC5-BB45-B3FD-0751CC7F6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19" y="2437297"/>
            <a:ext cx="4837354" cy="286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49D6FE24-A886-6396-9A1E-4F77D5E3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Git - Logo Downloads">
            <a:extLst>
              <a:ext uri="{FF2B5EF4-FFF2-40B4-BE49-F238E27FC236}">
                <a16:creationId xmlns:a16="http://schemas.microsoft.com/office/drawing/2014/main" id="{BF59A596-DC47-FE26-1BE0-9DABE102C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9" y="86969"/>
            <a:ext cx="779306" cy="77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52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C4E0F-C973-FA4D-9E22-17B764BE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AA6D26-8F1B-E940-A1AA-4DA2175A8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551" y="1690688"/>
            <a:ext cx="8113249" cy="4925265"/>
          </a:xfrm>
        </p:spPr>
        <p:txBody>
          <a:bodyPr>
            <a:normAutofit/>
          </a:bodyPr>
          <a:lstStyle/>
          <a:p>
            <a:r>
              <a:rPr lang="de-DE" dirty="0"/>
              <a:t>Lokale Benutzung  ✅</a:t>
            </a:r>
          </a:p>
          <a:p>
            <a:endParaRPr lang="de-DE" dirty="0"/>
          </a:p>
          <a:p>
            <a:r>
              <a:rPr lang="de-DE" dirty="0"/>
              <a:t>Zusammenarbeiten – nicht lokale Benutzung ✅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Git</a:t>
            </a:r>
            <a:r>
              <a:rPr lang="de-DE" dirty="0"/>
              <a:t>-Workflows ✅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GitHub und </a:t>
            </a:r>
            <a:r>
              <a:rPr lang="de-DE" dirty="0" err="1"/>
              <a:t>Gitlab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2052" name="Picture 4" descr="Git - Logo Downloads">
            <a:extLst>
              <a:ext uri="{FF2B5EF4-FFF2-40B4-BE49-F238E27FC236}">
                <a16:creationId xmlns:a16="http://schemas.microsoft.com/office/drawing/2014/main" id="{4DB65011-585A-DE40-B4D9-9A559EB97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23" y="1584936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Git Workflows | Programster's Blog">
            <a:extLst>
              <a:ext uri="{FF2B5EF4-FFF2-40B4-BE49-F238E27FC236}">
                <a16:creationId xmlns:a16="http://schemas.microsoft.com/office/drawing/2014/main" id="{24A948AF-E255-8549-A9C2-C1396D2AA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13" y="3429000"/>
            <a:ext cx="2480106" cy="116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0F1924CA-E4B5-7E4F-8BBE-73BFF3655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928" y="4948319"/>
            <a:ext cx="1276552" cy="117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EE0A9B93-F39E-D511-974A-C2FCD2C16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248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Macintosh PowerPoint</Application>
  <PresentationFormat>Breitbild</PresentationFormat>
  <Paragraphs>67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Git  –  From Zero To Hero – Workflows </vt:lpstr>
      <vt:lpstr>Inhalt</vt:lpstr>
      <vt:lpstr>Git-Workflows</vt:lpstr>
      <vt:lpstr>Trunk based workflow</vt:lpstr>
      <vt:lpstr>Feature-Branch Workflow</vt:lpstr>
      <vt:lpstr>Git-Flow</vt:lpstr>
      <vt:lpstr>GitHub-Fork-Workflow</vt:lpstr>
      <vt:lpstr>Inhalt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Zimmer</dc:creator>
  <cp:lastModifiedBy>Frank Zimmer</cp:lastModifiedBy>
  <cp:revision>1</cp:revision>
  <dcterms:created xsi:type="dcterms:W3CDTF">2025-07-30T20:26:05Z</dcterms:created>
  <dcterms:modified xsi:type="dcterms:W3CDTF">2025-09-02T17:28:42Z</dcterms:modified>
</cp:coreProperties>
</file>